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2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7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7AE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E40-4BCC-903D-A0B2690092C4}"/>
              </c:ext>
            </c:extLst>
          </c:dPt>
          <c:dLbls>
            <c:dLbl>
              <c:idx val="0"/>
              <c:layout>
                <c:manualLayout>
                  <c:x val="-1.9548337707786527E-3"/>
                  <c:y val="-0.43011463844797176"/>
                </c:manualLayout>
              </c:layout>
              <c:numFmt formatCode="0%" sourceLinked="0"/>
              <c:spPr/>
              <c:txPr>
                <a:bodyPr/>
                <a:lstStyle/>
                <a:p>
                  <a:pPr>
                    <a:defRPr sz="2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E40-4BCC-903D-A0B2690092C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Sheet1!$A$2:$A$2</c:f>
              <c:strCache>
                <c:ptCount val="1"/>
                <c:pt idx="0">
                  <c:v>Passed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40-4BCC-903D-A0B2690092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0F4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8499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I will walk you through the ParaBank End-to-End Automation Framework I built using Selenium, Java, TestNG, and Maven.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our agenda for today's presentation covering 10 main topics.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ParaBank is a sample banking web app. We automated it using POM to keep our code clean and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Manual testing creates bottlenecks in four key areas — time, repetition, errors, and regression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key objectives drive this project — reducing effort, improving coverage, reusability, speed, and ease of maintenance.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stack includes Java for scripting, Selenium for browser control, TestNG for test management, Maven for builds, Eclipse as IDE, and ChromeDriver for Chrome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Selenium is the industry standard for web automation. It is free, supports multiple browsers, and integrates well with Java and TestNG.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framework flows from TestNG at the top through test cases, page classes, utilities, WebDriver, and finally to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Maven provides a standard project layout. The pom.xml and testng.xml files are the heart of the project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is organized into five main packages: base, pages, utilities, testcases, and a Screenshots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BaseTest handles browser lifecycle. @BeforeMethod launches Chrome, and @AfterMethod closes it. Every test class extends BaseTest.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ConfigReader loads properties from config.properties file. This avoids hardcoding and makes it easy to switch environments.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B4ACE-F61E-1B38-FD0F-D5120247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9DECDF-7966-955A-5640-BEC533B42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5B0C5-BEED-6B50-6A54-A2F6CCCF9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ConfigReader loads properties from config.properties file. This avoids hardcoding and makes it easy to switch environments.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F9F7E-E8D8-4822-8CD1-E3746510C9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2225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POM separates page interactions from test logic. Each page has a dedicated class, making code reusable and easy to maintain.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LoginPage encapsulates username field, password field, and login button. The login() method is called by any test needing authentication.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RegisterPage fills out the registration form step by step, generates a unique username using timestamps, and stores it for later test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TransferFundsPage navigates to the transfer section, enters the amount, submits, and verifies the success confirmation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BillPayPage fills in all payee details — name, address, phone, account number, and payment amount — then submits and verifies the success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utility classes power the framework: TestData shares state between tests, ScreenshotUtil captures evidence, and ConfigReader manages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test classes cover registration, fund transfer, bill payment, and an end-to-end demo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testng.xml controls the execution order. RegisterTest runs first to create the account. Subsequent tests share the username via TestData.java.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testng.xml is the master control file. It specifies suite name, test name, and lists classes in the exact order we want them to execute.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Eclipse console shows all test steps logged in real-time. The final line 'BUILD SUCCESS' confirms all 4 tests passed with no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4 tests passed with a 100% pass rate. The full suite completed in approximately 38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 — we built a full automation framework, achieved 100% pass rate across all test cases, and demonstrated industry-standard practices.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00A896">
              <a:alpha val="15000"/>
            </a:srgbClr>
          </a:solidFill>
          <a:ln w="12700">
            <a:solidFill>
              <a:srgbClr val="00A89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F18F01">
              <a:alpha val="10000"/>
            </a:srgbClr>
          </a:solidFill>
          <a:ln w="12700">
            <a:solidFill>
              <a:srgbClr val="F18F01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ParaBank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Automation Framework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365760" y="2788920"/>
            <a:ext cx="502920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Snehal Reddy Godala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329267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ED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2532" y="91440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Project Overview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46304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F8F5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532" y="146304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Objectives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ED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532" y="201168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Technology Stack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56032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F8F5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532" y="2560320"/>
            <a:ext cx="4016587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Framework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310896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ED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2532" y="310896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Page Object 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91440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ED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7372" y="91440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Utilities &amp; Config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F8F5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7372" y="146304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Test Cases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01168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ED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7372" y="201168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Execution 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032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F8F5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7372" y="256032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Test Results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3108960"/>
            <a:ext cx="4069080" cy="484632"/>
          </a:xfrm>
          <a:prstGeom prst="roundRect">
            <a:avLst>
              <a:gd name="adj" fmla="val 11321"/>
            </a:avLst>
          </a:prstGeom>
          <a:solidFill>
            <a:srgbClr val="E8ED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7372" y="3108960"/>
            <a:ext cx="4016588" cy="484632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Conclusion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1.ApplicatioApplication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4340" y="1417320"/>
            <a:ext cx="8052647" cy="817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ParaBank – a web-based banking application used as a real-world testing target for automation practice and skill demonstration.</a:t>
            </a:r>
          </a:p>
        </p:txBody>
      </p:sp>
      <p:sp>
        <p:nvSpPr>
          <p:cNvPr id="11" name="Text 9"/>
          <p:cNvSpPr/>
          <p:nvPr/>
        </p:nvSpPr>
        <p:spPr>
          <a:xfrm>
            <a:off x="-231987" y="18694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2.Design Pattern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339340"/>
            <a:ext cx="77952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the Page Object Model (POM) design pattern to separate test logic from page interactions, improving code reuse.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0" y="2652607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3.Reusable Framework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097107"/>
            <a:ext cx="7643707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scalable, maintainable automation framework with shared utilities, base classes, and centralized configuration management.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– Why Automate?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6038" y="12070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1.Time Consuming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6038" y="1554480"/>
            <a:ext cx="58592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 execution for each release cycle takes days, delaying delivery and feedback loops.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43823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6038" y="199271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2.Repetitive Tasks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0901" y="2280751"/>
            <a:ext cx="7484195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Testers repeatedly execute the same regression scenarios, leading to fatigue and reduced focus on exploratory testing.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6038" y="271221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3.Human Errors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0901" y="3027681"/>
            <a:ext cx="7159075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testing is prone to missed steps, inconsistent data entry, and oversight—especially under deadline pressure.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43823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6038" y="34518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4.Difficult Regression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0901" y="3816265"/>
            <a:ext cx="738259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application grows, full regression coverage becomes impossible to maintain manually within sprint timelines.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00A896">
              <a:alpha val="15000"/>
            </a:srgbClr>
          </a:solidFill>
          <a:ln w="12700">
            <a:solidFill>
              <a:srgbClr val="00A89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F18F01">
              <a:alpha val="10000"/>
            </a:srgbClr>
          </a:solidFill>
          <a:ln w="12700">
            <a:solidFill>
              <a:srgbClr val="F18F01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822960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9601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Manual Effort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77240" y="13075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repetitive regression scenarios to free testers for exploratory testing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777240" y="1737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Test Coverage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77240" y="20848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all critical banking workflows including registration, transfer, and bill pay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777240" y="25146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Reusable Framework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777240" y="2862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modular, maintainable code using Page Object Model and shared utilities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777240" y="3291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Faster Execution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777240" y="36393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test suite in minutes rather than hours of manual effort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777240" y="40690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Maintenance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777240" y="4416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locators in page classes so UI changes require minimal code updates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2423160" cy="384048"/>
          </a:xfrm>
          <a:prstGeom prst="roundRect">
            <a:avLst>
              <a:gd name="adj" fmla="val 11905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programming language for writing test scripts and framework utilities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097280"/>
            <a:ext cx="2423160" cy="384048"/>
          </a:xfrm>
          <a:prstGeom prst="roundRect">
            <a:avLst>
              <a:gd name="adj" fmla="val 11905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09728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WebDriver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 tool that drives Chrome to interact with the ParaBank UI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097280"/>
            <a:ext cx="2423160" cy="384048"/>
          </a:xfrm>
          <a:prstGeom prst="roundRect">
            <a:avLst>
              <a:gd name="adj" fmla="val 11905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109728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 framework providing annotations, test sequencing, and reporting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898648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035808"/>
            <a:ext cx="2423160" cy="384048"/>
          </a:xfrm>
          <a:prstGeom prst="roundRect">
            <a:avLst>
              <a:gd name="adj" fmla="val 11905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0358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3493008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dependency management tool; controls library versions via pom.xml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898648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37560" y="3035808"/>
            <a:ext cx="2423160" cy="384048"/>
          </a:xfrm>
          <a:prstGeom prst="roundRect">
            <a:avLst>
              <a:gd name="adj" fmla="val 11905"/>
            </a:avLst>
          </a:prstGeom>
          <a:solidFill>
            <a:srgbClr val="F18F01"/>
          </a:solidFill>
          <a:ln w="12700">
            <a:solidFill>
              <a:srgbClr val="F18F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30358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IDE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37560" y="3493008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 for writing, debugging, and running automation code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898648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3035808"/>
            <a:ext cx="2423160" cy="384048"/>
          </a:xfrm>
          <a:prstGeom prst="roundRect">
            <a:avLst>
              <a:gd name="adj" fmla="val 1190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0358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ChromeDriver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63640" y="3493008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WebDriver implementation that bridges Selenium with the Chrome browser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Selenium WebDriver?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Advantages: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157276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Source &amp; Free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17922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licensing cost — perfect for organizations of all sizes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1284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22128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Multi-Browser Support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4323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Chrome, Firefox, Edge, Safari and more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0120" y="28529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Java Integration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072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support for Java with clean WebDriver APIs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930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TestNG Integration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37124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combines with TestNG for structured execution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3308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" y="41330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Industry Standard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60120" y="43525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used in the industry — great for career growth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77840" y="960120"/>
            <a:ext cx="3246120" cy="3794760"/>
          </a:xfrm>
          <a:prstGeom prst="roundRect">
            <a:avLst>
              <a:gd name="adj" fmla="val 2254"/>
            </a:avLst>
          </a:prstGeom>
          <a:solidFill>
            <a:srgbClr val="1A2F45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577840" y="1234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577840" y="169164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#1 browser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framework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world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880360"/>
            <a:ext cx="237744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301752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top companies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Google,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Microsoft, and Amazon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715000" y="40416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Active Community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Rich Documentation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CI/CD Ready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57400" y="868680"/>
            <a:ext cx="5029200" cy="603504"/>
          </a:xfrm>
          <a:prstGeom prst="roundRect">
            <a:avLst>
              <a:gd name="adj" fmla="val 10606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57400" y="868680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57400" y="1170432"/>
            <a:ext cx="502920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runner &amp; annotations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0" y="1472184"/>
            <a:ext cx="0" cy="82296"/>
          </a:xfrm>
          <a:prstGeom prst="line">
            <a:avLst/>
          </a:prstGeom>
          <a:noFill/>
          <a:ln w="25400">
            <a:solidFill>
              <a:srgbClr val="4A62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07408" y="145389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278"/>
                </a:solidFill>
              </a:rPr>
              <a:t>▼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57400" y="1545336"/>
            <a:ext cx="5029200" cy="603504"/>
          </a:xfrm>
          <a:prstGeom prst="roundRect">
            <a:avLst>
              <a:gd name="adj" fmla="val 10606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57400" y="1545336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57400" y="1847088"/>
            <a:ext cx="502920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RegisterTest · TransferFundsTest · BillPayTest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0" y="2148840"/>
            <a:ext cx="0" cy="82296"/>
          </a:xfrm>
          <a:prstGeom prst="line">
            <a:avLst/>
          </a:prstGeom>
          <a:noFill/>
          <a:ln w="25400">
            <a:solidFill>
              <a:srgbClr val="4A62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7408" y="21305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278"/>
                </a:solidFill>
              </a:rPr>
              <a:t>▼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057400" y="2221992"/>
            <a:ext cx="5029200" cy="603504"/>
          </a:xfrm>
          <a:prstGeom prst="roundRect">
            <a:avLst>
              <a:gd name="adj" fmla="val 1060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57400" y="2221992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Classes (POM)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57400" y="2523744"/>
            <a:ext cx="502920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LoginPage · RegisterPage · TransferFundsPage · BillPayPage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0" y="2825496"/>
            <a:ext cx="0" cy="82296"/>
          </a:xfrm>
          <a:prstGeom prst="line">
            <a:avLst/>
          </a:prstGeom>
          <a:noFill/>
          <a:ln w="25400">
            <a:solidFill>
              <a:srgbClr val="4A62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28072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278"/>
                </a:solidFill>
              </a:rPr>
              <a:t>▼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057400" y="2898648"/>
            <a:ext cx="5029200" cy="603504"/>
          </a:xfrm>
          <a:prstGeom prst="roundRect">
            <a:avLst>
              <a:gd name="adj" fmla="val 10606"/>
            </a:avLst>
          </a:prstGeom>
          <a:solidFill>
            <a:srgbClr val="F18F01"/>
          </a:solidFill>
          <a:ln w="12700">
            <a:solidFill>
              <a:srgbClr val="F18F0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057400" y="2898648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057400" y="3200400"/>
            <a:ext cx="502920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BaseTest · ConfigReader · ScreenshotUtil · TestData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3502152"/>
            <a:ext cx="0" cy="82296"/>
          </a:xfrm>
          <a:prstGeom prst="line">
            <a:avLst/>
          </a:prstGeom>
          <a:noFill/>
          <a:ln w="25400">
            <a:solidFill>
              <a:srgbClr val="4A62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07408" y="348386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278"/>
                </a:solidFill>
              </a:rPr>
              <a:t>▼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057400" y="3575304"/>
            <a:ext cx="5029200" cy="603504"/>
          </a:xfrm>
          <a:prstGeom prst="roundRect">
            <a:avLst>
              <a:gd name="adj" fmla="val 10606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057400" y="3575304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WebDriver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057400" y="3877056"/>
            <a:ext cx="502920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ChromeDriver browser control layer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4178808"/>
            <a:ext cx="0" cy="82296"/>
          </a:xfrm>
          <a:prstGeom prst="line">
            <a:avLst/>
          </a:prstGeom>
          <a:noFill/>
          <a:ln w="25400">
            <a:solidFill>
              <a:srgbClr val="4A62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07408" y="41605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278"/>
                </a:solidFill>
              </a:rPr>
              <a:t>▼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057400" y="4251960"/>
            <a:ext cx="5029200" cy="603504"/>
          </a:xfrm>
          <a:prstGeom prst="roundRect">
            <a:avLst>
              <a:gd name="adj" fmla="val 10606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057400" y="4251960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(Chrome)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057400" y="4553712"/>
            <a:ext cx="5029200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ParaBank web application target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 rot="16200000">
            <a:off x="274320" y="137160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(Top → Bottom)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Project Structure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547360" y="914400"/>
            <a:ext cx="3276600" cy="38404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943600" y="1755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all library dependencies — Selenium, TestNG, and Maven plugins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43600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testng.xml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43600" y="2395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test suite, execution order, and included test classes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0" y="2788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config.properties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43600" y="30358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URL, username, and password for easy configuration changes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0" y="3429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src/main/java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943600" y="36758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utility code shared across all test cases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43600" y="4069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src/test/java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943600" y="43159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page objects and test case scripts live here</a:t>
            </a:r>
            <a:endParaRPr lang="en-US" sz="105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BCF335E-6CBF-0F48-6BAE-1BEF0473A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81" y="805349"/>
            <a:ext cx="4063999" cy="43103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 Inside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/main/java &amp;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/test/java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1828800" cy="658368"/>
          </a:xfrm>
          <a:prstGeom prst="roundRect">
            <a:avLst>
              <a:gd name="adj" fmla="val 9722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base/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31720" y="960120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960120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BaseTest.java — responsible for browser setup (@BeforeMethod) and teardown (@AfterMethod)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755648"/>
            <a:ext cx="1828800" cy="658368"/>
          </a:xfrm>
          <a:prstGeom prst="roundRect">
            <a:avLst>
              <a:gd name="adj" fmla="val 9722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75564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pages/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31720" y="1755648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87168" y="1755648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 classes for each screen: LoginPage, RegisterPage, TransferFundsPage, BillPayPage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551176"/>
            <a:ext cx="1828800" cy="658368"/>
          </a:xfrm>
          <a:prstGeom prst="roundRect">
            <a:avLst>
              <a:gd name="adj" fmla="val 9722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5511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utilities/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331720" y="2551176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87168" y="2551176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classes: ConfigReader, ScreenshotUtil, and TestData for shared test state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346704"/>
            <a:ext cx="1828800" cy="658368"/>
          </a:xfrm>
          <a:prstGeom prst="roundRect">
            <a:avLst>
              <a:gd name="adj" fmla="val 9722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34670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testcases/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331720" y="3346704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87168" y="3346704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test scripts: RegisterTest, TransferFundsTest, BillPayTest, DemoTest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4142232"/>
            <a:ext cx="1828800" cy="658368"/>
          </a:xfrm>
          <a:prstGeom prst="roundRect">
            <a:avLst>
              <a:gd name="adj" fmla="val 9722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1422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Screenshots/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331720" y="4142232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487168" y="4142232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folder where ScreenshotUtil saves PNG evidence on test pass/fail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BaseTest.java – Browser Lifecycle Management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1480" y="2212848"/>
            <a:ext cx="4754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532120" y="1435016"/>
            <a:ext cx="32918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69280" y="15361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@BeforeMethod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669280" y="17785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every test method — sets up a fresh browser instance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32120" y="2552277"/>
            <a:ext cx="32918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669280" y="2609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ChromeDriver Setup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669280" y="28072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Initializes ChromeDriver, maximizes the browser window, and navigates to the app URL from config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32120" y="3656203"/>
            <a:ext cx="32918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32" name="Text 30"/>
          <p:cNvSpPr/>
          <p:nvPr/>
        </p:nvSpPr>
        <p:spPr>
          <a:xfrm>
            <a:off x="5669280" y="3656203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@AfterMethod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0" y="3843677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every test — closes the browser to release resources and avoid memory leaks</a:t>
            </a:r>
            <a:endParaRPr lang="en-US" sz="11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F57E3B1-FD29-5189-06C2-4A82465BB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922401"/>
            <a:ext cx="4400973" cy="40987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ConfigReader.java – Centralized Configuration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config.properties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447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url=</a:t>
            </a:r>
            <a:r>
              <a:rPr lang="en-US" sz="11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http://parabank.para...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username=</a:t>
            </a:r>
            <a:r>
              <a:rPr lang="en-US" sz="11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generated_user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password=</a:t>
            </a:r>
            <a:r>
              <a:rPr lang="en-US" sz="11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Test@1234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6400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73736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A896"/>
                </a:solidFill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37760" y="96012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0058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ConfigReader.java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43560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Properties prop = new Properties();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74920" y="165506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prop.load(new FileReader(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7492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"config.properties"));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74920" y="20939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getURL()  → prop.get("url")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74920" y="23134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getUser() → prop.get("username")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74920" y="25328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getPass() → prop.get("password")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292608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017520"/>
            <a:ext cx="2514600" cy="365760"/>
          </a:xfrm>
          <a:prstGeom prst="roundRect">
            <a:avLst>
              <a:gd name="adj" fmla="val 12500"/>
            </a:avLst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456432"/>
            <a:ext cx="24231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URL or credentials in one file — all tests pick it up automatically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92608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37560" y="3017520"/>
            <a:ext cx="2514600" cy="365760"/>
          </a:xfrm>
          <a:prstGeom prst="roundRect">
            <a:avLst>
              <a:gd name="adj" fmla="val 12500"/>
            </a:avLst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456432"/>
            <a:ext cx="24231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and URLs are never embedded in test code, making maintenance easier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9360" y="3017520"/>
            <a:ext cx="2514600" cy="365760"/>
          </a:xfrm>
          <a:prstGeom prst="roundRect">
            <a:avLst>
              <a:gd name="adj" fmla="val 12500"/>
            </a:avLst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Switching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456432"/>
            <a:ext cx="24231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dev, staging, and production by simply changing config.properties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82DAC5-7775-4F03-F860-5229752C2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9A2DDA-FF79-555C-55A3-24C6CCDB29C2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06C24C7-00F3-95E5-7BFE-73FC98533625}"/>
              </a:ext>
            </a:extLst>
          </p:cNvPr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527BFAD-2C37-9E62-B1AA-08C07EEFAB32}"/>
              </a:ext>
            </a:extLst>
          </p:cNvPr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ScreenshotUtil.java – </a:t>
            </a:r>
            <a:endParaRPr lang="en-US" sz="2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EECA2C1-A287-B7C9-FD73-845E4083C346}"/>
              </a:ext>
            </a:extLst>
          </p:cNvPr>
          <p:cNvSpPr/>
          <p:nvPr/>
        </p:nvSpPr>
        <p:spPr>
          <a:xfrm>
            <a:off x="4709160" y="173736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C4776B7-99CA-409D-B4FB-2CE91FC0B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537" y="1024128"/>
            <a:ext cx="3560544" cy="38266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D6FA1CD-4988-FE51-871D-9E0B697FE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239082"/>
            <a:ext cx="2827265" cy="108213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2EA2B1E-20D1-C2D8-6EF7-943F665E42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19" y="2321216"/>
            <a:ext cx="2827265" cy="1074513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28B9F60-04E0-6AE3-4E34-4407CCF62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17" y="3395729"/>
            <a:ext cx="2827267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655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00A896">
              <a:alpha val="15000"/>
            </a:srgbClr>
          </a:solidFill>
          <a:ln w="12700">
            <a:solidFill>
              <a:srgbClr val="00A89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F18F01">
              <a:alpha val="10000"/>
            </a:srgbClr>
          </a:solidFill>
          <a:ln w="12700">
            <a:solidFill>
              <a:srgbClr val="F18F01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0116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 Model (POM)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7132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2D1B1B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1887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Without POM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1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Locators scattered across all test files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222199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1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element found in 10 different tests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75234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1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UI change requires updating dozens of files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32826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1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tightly coupled to implementation details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8130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1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debug and maintain at scale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0" y="109728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1B2D1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11887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With POM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09160" y="16916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50" dirty="0">
                <a:solidFill>
                  <a:srgbClr val="C6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page has its own class with all locators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09160" y="222199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50" dirty="0">
                <a:solidFill>
                  <a:srgbClr val="C6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call reusable methods from page classes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09160" y="275234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50" dirty="0">
                <a:solidFill>
                  <a:srgbClr val="C6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change → update only one page class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09160" y="328269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50" dirty="0">
                <a:solidFill>
                  <a:srgbClr val="C6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of test logic &amp; page actions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09160" y="381304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150" dirty="0">
                <a:solidFill>
                  <a:srgbClr val="C6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Easily scalable as application grows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LoginPage.java – Page Object Class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1276502"/>
            <a:ext cx="466344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" y="2359152"/>
            <a:ext cx="466344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100584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577840" y="1078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77840" y="14173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WebDriver instance from the test class so it operates on the same browser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192024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57784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Locators (By)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77840" y="23317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locators stored as class fields — find username/password fields and login button by their HTML attributes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40680" y="310896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577840" y="3182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login() Method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77840" y="352044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action method — enters username and password, then clicks login. Any test can call this in one line</a:t>
            </a:r>
            <a:endParaRPr lang="en-US" sz="11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9448F3A-EC37-E41F-AC82-21594F2A6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93" y="873244"/>
            <a:ext cx="4656223" cy="41303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RegisterPage.java – User Registration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97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7784" y="1572768"/>
            <a:ext cx="0" cy="18288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005840"/>
            <a:ext cx="78181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43000" y="10332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Register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2984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the 'Register' link on the home page to open the registration form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892808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92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7784" y="2368296"/>
            <a:ext cx="0" cy="18288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1801368"/>
            <a:ext cx="78181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43000" y="18288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Personal Details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209397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first name, last name, address, city, state, zip code, phone, and SSN into form fields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2688336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688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57784" y="3163824"/>
            <a:ext cx="0" cy="18288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2596896"/>
            <a:ext cx="78181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143000" y="2624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Unique Username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288950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System.currentTimeMillis() to a base string — ensures uniqueness on every test run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3483864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4838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57784" y="3959352"/>
            <a:ext cx="0" cy="18288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392424"/>
            <a:ext cx="78181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143000" y="34198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Password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43000" y="36850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and confirms the password for the new account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0040" y="4279392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279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005840" y="4187952"/>
            <a:ext cx="78181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43000" y="421538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&amp; Store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3000" y="44805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'Register', then saves the generated username in TestData.java for use in subsequent tests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TransferFundsPage.java – Fund Transfer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56032" y="1188720"/>
            <a:ext cx="1316736" cy="1280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6032" y="16642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" y="2011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registered credentials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581912" y="15087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737360" y="1188720"/>
            <a:ext cx="1316736" cy="1280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37360" y="16642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2011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Post-login landing page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63240" y="15087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18688" y="1188720"/>
            <a:ext cx="1316736" cy="1280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18688" y="16642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Funds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18688" y="2011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Transfer page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44568" y="15087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700016" y="1188720"/>
            <a:ext cx="1325880" cy="1280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0016" y="16642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Amount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0016" y="2011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transfer amount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025896" y="15087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81344" y="1188720"/>
            <a:ext cx="1325880" cy="1280160"/>
          </a:xfrm>
          <a:prstGeom prst="roundRect">
            <a:avLst>
              <a:gd name="adj" fmla="val 5517"/>
            </a:avLst>
          </a:prstGeom>
          <a:solidFill>
            <a:srgbClr val="E8F8F5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81344" y="16642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81344" y="2011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Transfer button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07224" y="15087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662672" y="1188720"/>
            <a:ext cx="1325880" cy="12801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62672" y="1188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62672" y="16642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662672" y="2011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success message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11480" y="28346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Code – TransferFundsPage.java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1480" y="318211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driver.findElement(By.linkText("Transfer Funds")).click();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11480" y="346557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driver.findElement(By.id("amount")).sendKeys("500");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1480" y="37490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driver.findElement(By.id("transferButton")).click();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11480" y="403250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msg = driver.findElement(By.tagName("h1")).getText();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11480" y="43159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Assert.assertEquals(msg, "Transfer Complete!");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BillPayPage.java – Bill Payment</a:t>
            </a:r>
            <a:endParaRPr lang="en-US" sz="220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A6CBFD3-1651-61FF-8F1E-740B481B1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14" y="960118"/>
            <a:ext cx="3737906" cy="3905449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98F07FB-9CD6-2FB6-19C5-8C0FA2C67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483" y="1369066"/>
            <a:ext cx="4735716" cy="30875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Classes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2788920" cy="384048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24128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241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TestData.java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0040" y="13075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Test State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1664208"/>
            <a:ext cx="2514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dynamically generated username as a public static variable. This allows RegisterTest to store the username and TransferFundsTest / BillPayTest to retrieve it without re-registering.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402336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1E1E2E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" y="40233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username;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914400"/>
            <a:ext cx="2788920" cy="384048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24128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0241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ScreenshotUtil.java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91840" y="13075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37560" y="1664208"/>
            <a:ext cx="2514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 screenshot at the end of each test using TakesScreenshot interface. Saves the PNG to the Screenshots/ folder with a timestamped filename. Called in @AfterMethod.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402336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1E1E2E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91840" y="40233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captureScreenshot(driver, testName)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914400"/>
            <a:ext cx="2788920" cy="384048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63640" y="1024128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0241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ConfigReader.java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263640" y="13075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Management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309360" y="1664208"/>
            <a:ext cx="2514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URL, username (base), and password from config.properties using Java's Properties class. Returns values as strings via static methods for use anywhere in the framework.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402336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1E1E2E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40233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getURL()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698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698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RegisterTest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registration page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18013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form with valid data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0482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unique username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295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542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Registration Successful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36592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28032" y="10698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0698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TransferFundsTest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19472" y="1554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with registered user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919472" y="18013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Transfer Funds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19472" y="20482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$500 amount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919472" y="2295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accounts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19472" y="2542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Transfer Complete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" y="2990088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09981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099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BillPayTest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3584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with registered user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38313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Bill Pay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payee details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325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payment amount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Bill Payment Complete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36592" y="2990088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28032" y="309981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3099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DemoTest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19472" y="3584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smoke test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919472" y="38313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overall flow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19472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all page objects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19472" y="4325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integration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19472" y="4572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150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Full flow passes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 Flow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30352" y="1051560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testng.xml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627632" y="1051560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entry point — defines class order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1618488"/>
            <a:ext cx="0" cy="164592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0029" y="1764792"/>
            <a:ext cx="3674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A896"/>
                </a:solidFill>
              </a:rPr>
              <a:t>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62272" y="1874520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62272" y="187452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RegisterTest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59552" y="1874520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account &amp; saves username to TestData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46520" y="2441448"/>
            <a:ext cx="0" cy="164592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1" y="2633472"/>
            <a:ext cx="46058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A896"/>
                </a:solidFill>
              </a:rPr>
              <a:t>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0352" y="2697480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269748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TransferFundsTest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627632" y="2697480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in, reads username from TestData, transfers $500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14600" y="3264408"/>
            <a:ext cx="0" cy="164592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0029" y="3392424"/>
            <a:ext cx="367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A896"/>
                </a:solidFill>
              </a:rPr>
              <a:t>▼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389120" y="342900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62272" y="3520440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62272" y="352044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BillPayTest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559552" y="3520440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in, pays bill using shared username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4087368"/>
            <a:ext cx="0" cy="164592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4215384"/>
            <a:ext cx="2675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A896"/>
                </a:solidFill>
              </a:rPr>
              <a:t>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0352" y="4343400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434340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DemoTest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27632" y="4343400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validation across all features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75320" y="1874520"/>
            <a:ext cx="658368" cy="2468880"/>
          </a:xfrm>
          <a:prstGeom prst="roundRect">
            <a:avLst>
              <a:gd name="adj" fmla="val 11111"/>
            </a:avLst>
          </a:prstGeom>
          <a:solidFill>
            <a:srgbClr val="E8F8F5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275320" y="1874520"/>
            <a:ext cx="6583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0" y="1683173"/>
            <a:ext cx="370332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0" y="3291840"/>
            <a:ext cx="370332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testng.xml – Test Suite Configuration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1327709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2348179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1480" y="3028493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1480" y="3368650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60720" y="91440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tag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97880" y="1234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entire test suite. 'verbose=1' enables console logging during execution.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760720" y="1892808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897880" y="19385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tag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897880" y="22128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a collection of test classes into one logical test batch.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760720" y="2871216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29169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section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897880" y="31912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each test class by its fully qualified name. TestNG executes them in the order listed here — Register first, then Transfer, then BillPay.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760720" y="3849624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897880" y="38953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Order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897880" y="41696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RegisterTest → TransferFundsTest → BillPayTest → DemoTest. This order matters because later tests depend on the registered username.</a:t>
            </a:r>
            <a:endParaRPr lang="en-US" sz="1050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D5ED15E6-02A3-D4D4-383D-E0BED4E74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76621"/>
            <a:ext cx="4968671" cy="35588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Output – Test Execution Log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1830629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307946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347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58079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058107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376318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E805FAD-B96D-B7E6-F232-5BA271CEE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3" y="878044"/>
            <a:ext cx="8398933" cy="416450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468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– 100% Pass Rate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803136" y="960120"/>
            <a:ext cx="19202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03136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6803136" y="2057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300" dirty="0"/>
          </a:p>
        </p:txBody>
      </p:sp>
      <p:graphicFrame>
        <p:nvGraphicFramePr>
          <p:cNvPr id="17" name="Chart 0"/>
          <p:cNvGraphicFramePr/>
          <p:nvPr>
            <p:extLst>
              <p:ext uri="{D42A27DB-BD31-4B8C-83A1-F6EECF244321}">
                <p14:modId xmlns:p14="http://schemas.microsoft.com/office/powerpoint/2010/main" val="2485324087"/>
              </p:ext>
            </p:extLst>
          </p:nvPr>
        </p:nvGraphicFramePr>
        <p:xfrm>
          <a:off x="5943600" y="960120"/>
          <a:ext cx="292608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249800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Summary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288205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► 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Duration: ~38 seconds for full suite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315637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► 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Browser: Google Chrome (headless-compatible)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343069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► 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Local machine via ChromeDriver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57200" y="370501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► 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Evidence: Screenshots saved for all 4 tests</a:t>
            </a:r>
            <a:endParaRPr lang="en-US" sz="12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1AF1C2E-CB9C-5F23-C125-B9A1C6E43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79073"/>
            <a:ext cx="3825572" cy="62489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00A896">
              <a:alpha val="15000"/>
            </a:srgbClr>
          </a:solidFill>
          <a:ln w="12700">
            <a:solidFill>
              <a:srgbClr val="00A89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F18F01">
              <a:alpha val="10000"/>
            </a:srgbClr>
          </a:solidFill>
          <a:ln w="12700">
            <a:solidFill>
              <a:srgbClr val="F18F01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Achievements of the ParaBank Automation Framework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22960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3258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123444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designed and implemented a Selenium + Java automation framework from scratch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61848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complete framework — no shortcuts</a:t>
            </a:r>
            <a:endParaRPr lang="en-US" sz="10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574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77240" y="196596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Page Object Model pattern across all 4 page classes for clean, reusable code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77240" y="23500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design pattern</a:t>
            </a:r>
            <a:endParaRPr lang="en-US" sz="105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7889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7240" y="269748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all 4 test cases with 100% pass rate and zero failures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77240" y="308152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end-to-end banking flows</a:t>
            </a:r>
            <a:endParaRPr lang="en-US" sz="105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5204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77240" y="342900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automated screenshots as visual evidence for each passing test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777240" y="381304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test evidence management</a:t>
            </a:r>
            <a:endParaRPr lang="en-US" sz="105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4251960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77240" y="416052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full automation of Register → Login → Transfer → BillPay flow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777240" y="454456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banking workflow automated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5029200" y="4754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Snehal Reddy </a:t>
            </a:r>
            <a:r>
              <a:rPr lang="en-US" sz="1100" dirty="0" err="1">
                <a:solidFill>
                  <a:srgbClr val="8D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Godala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2422</Words>
  <Application>Microsoft Office PowerPoint</Application>
  <PresentationFormat>On-screen Show (16:9)</PresentationFormat>
  <Paragraphs>353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ParaBank End-to-End Automation Framework</dc:title>
  <dc:subject>PptxGenJS Presentation</dc:subject>
  <dc:creator>Snehal Reddy Godala</dc:creator>
  <cp:lastModifiedBy>shreshtaareddy@outlook.com</cp:lastModifiedBy>
  <cp:revision>34</cp:revision>
  <dcterms:created xsi:type="dcterms:W3CDTF">2026-06-14T16:29:43Z</dcterms:created>
  <dcterms:modified xsi:type="dcterms:W3CDTF">2026-06-15T13:53:18Z</dcterms:modified>
</cp:coreProperties>
</file>